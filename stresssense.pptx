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notesMasters/notesMaster1.xml" Type="http://schemas.openxmlformats.org/officeDocument/2006/relationships/notesMaster"/><Relationship Id="rId14" Target="theme/theme2.xml" Type="http://schemas.openxmlformats.org/officeDocument/2006/relationships/theme"/><Relationship Id="rId15" Target="notesSlides/notesSlide1.xml" Type="http://schemas.openxmlformats.org/officeDocument/2006/relationships/notes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fonts/font25.fntdata" Type="http://schemas.openxmlformats.org/officeDocument/2006/relationships/font"/><Relationship Id="rId26" Target="notesSlides/notesSlide5.xml" Type="http://schemas.openxmlformats.org/officeDocument/2006/relationships/notesSlide"/><Relationship Id="rId27" Target="fonts/font27.fntdata" Type="http://schemas.openxmlformats.org/officeDocument/2006/relationships/font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https://gamma.app/?utm_source=made-with-gamma" TargetMode="External" Type="http://schemas.openxmlformats.org/officeDocument/2006/relationships/hyperlink"/><Relationship Id="rId6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2.pn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2" Target="../notesSlides/notesSlide7.xml" Type="http://schemas.openxmlformats.org/officeDocument/2006/relationships/notesSlide"/><Relationship Id="rId3" Target="../media/image2.pn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06140" y="4603433"/>
            <a:ext cx="11475720" cy="661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b="true" sz="6000" spc="47">
                <a:solidFill>
                  <a:srgbClr val="181717"/>
                </a:solidFill>
                <a:latin typeface="TT Phobos Bold"/>
                <a:ea typeface="TT Phobos Bold"/>
                <a:cs typeface="TT Phobos Bold"/>
                <a:sym typeface="TT Phobos Bold"/>
              </a:rPr>
              <a:t>Stress Sense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320540" y="5832739"/>
            <a:ext cx="12147585" cy="498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8"/>
              </a:lnSpc>
            </a:pPr>
            <a:r>
              <a:rPr lang="en-US" sz="4590" b="true">
                <a:solidFill>
                  <a:srgbClr val="53535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                                                                  Presented by </a:t>
            </a:r>
          </a:p>
          <a:p>
            <a:pPr algn="r">
              <a:lnSpc>
                <a:spcPts val="3697"/>
              </a:lnSpc>
            </a:pPr>
            <a:r>
              <a:rPr lang="en-US" sz="3081" i="true">
                <a:solidFill>
                  <a:srgbClr val="C55A11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B.Bhavitha      </a:t>
            </a:r>
          </a:p>
          <a:p>
            <a:pPr algn="r">
              <a:lnSpc>
                <a:spcPts val="3697"/>
              </a:lnSpc>
            </a:pPr>
            <a:r>
              <a:rPr lang="en-US" sz="3081" i="true">
                <a:solidFill>
                  <a:srgbClr val="C55A11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D.Grahita        </a:t>
            </a:r>
          </a:p>
          <a:p>
            <a:pPr algn="r">
              <a:lnSpc>
                <a:spcPts val="3697"/>
              </a:lnSpc>
            </a:pPr>
            <a:r>
              <a:rPr lang="en-US" sz="3081" i="true">
                <a:solidFill>
                  <a:srgbClr val="C55A11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N.Hasini          </a:t>
            </a:r>
          </a:p>
          <a:p>
            <a:pPr algn="r">
              <a:lnSpc>
                <a:spcPts val="3697"/>
              </a:lnSpc>
            </a:pPr>
            <a:r>
              <a:rPr lang="en-US" sz="3081" i="true">
                <a:solidFill>
                  <a:srgbClr val="C55A11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V.Sumshaya   </a:t>
            </a:r>
          </a:p>
          <a:p>
            <a:pPr algn="r">
              <a:lnSpc>
                <a:spcPts val="3697"/>
              </a:lnSpc>
            </a:pPr>
            <a:r>
              <a:rPr lang="en-US" sz="3081" i="true">
                <a:solidFill>
                  <a:srgbClr val="C55A11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B.Tejasvi         </a:t>
            </a:r>
          </a:p>
          <a:p>
            <a:pPr algn="r">
              <a:lnSpc>
                <a:spcPts val="3697"/>
              </a:lnSpc>
            </a:pPr>
            <a:r>
              <a:rPr lang="en-US" sz="3081" i="true">
                <a:solidFill>
                  <a:srgbClr val="C55A11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P.Vyshnavi     </a:t>
            </a:r>
          </a:p>
          <a:p>
            <a:pPr algn="r">
              <a:lnSpc>
                <a:spcPts val="5508"/>
              </a:lnSpc>
            </a:pPr>
          </a:p>
          <a:p>
            <a:pPr algn="r">
              <a:lnSpc>
                <a:spcPts val="5508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2286000" y="1581150"/>
            <a:ext cx="13716000" cy="2205038"/>
            <a:chOff x="0" y="0"/>
            <a:chExt cx="18288000" cy="29400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2" cy="2940050"/>
            </a:xfrm>
            <a:custGeom>
              <a:avLst/>
              <a:gdLst/>
              <a:ahLst/>
              <a:cxnLst/>
              <a:rect r="r" b="b" t="t" l="l"/>
              <a:pathLst>
                <a:path h="2940050" w="18288002">
                  <a:moveTo>
                    <a:pt x="0" y="0"/>
                  </a:moveTo>
                  <a:lnTo>
                    <a:pt x="18288002" y="0"/>
                  </a:lnTo>
                  <a:lnTo>
                    <a:pt x="18288002" y="2940050"/>
                  </a:lnTo>
                  <a:lnTo>
                    <a:pt x="0" y="29400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8288000" cy="2940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</a:p>
            <a:p>
              <a:pPr algn="ctr">
                <a:lnSpc>
                  <a:spcPts val="4320"/>
                </a:lnSpc>
              </a:pPr>
              <a:r>
                <a:rPr lang="en-US" b="true" sz="3600" spc="28">
                  <a:solidFill>
                    <a:srgbClr val="8497B0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SREYAS INSTITUTE OF ENGINEERING &amp; TECHNOLOGY</a:t>
              </a:r>
            </a:p>
            <a:p>
              <a:pPr algn="ctr">
                <a:lnSpc>
                  <a:spcPts val="4320"/>
                </a:lnSpc>
              </a:pPr>
              <a:r>
                <a:rPr lang="en-US" b="true" sz="3600" spc="28">
                  <a:solidFill>
                    <a:srgbClr val="C00000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(AUTONOMUS)</a:t>
              </a:r>
            </a:p>
            <a:p>
              <a:pPr algn="ctr">
                <a:lnSpc>
                  <a:spcPts val="1800"/>
                </a:lnSpc>
              </a:pPr>
              <a:r>
                <a:rPr lang="en-US" sz="1500" spc="-9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(Approved by A.I.C.T.E.,New Delhi., Affiliated to JNTUH Hyderabad, Accredited by NAAC ‘A’ Grade &amp; NBA)</a:t>
              </a:r>
            </a:p>
            <a:p>
              <a:pPr algn="ctr">
                <a:lnSpc>
                  <a:spcPts val="3240"/>
                </a:lnSpc>
              </a:pPr>
              <a:r>
                <a:rPr lang="en-US" b="true" sz="2700" spc="21">
                  <a:solidFill>
                    <a:srgbClr val="BF9000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DEPARTMENT OF COMPUTER SCIENCE ENGINEERING(AI&amp;ML)</a:t>
              </a:r>
            </a:p>
            <a:p>
              <a:pPr algn="ctr">
                <a:lnSpc>
                  <a:spcPts val="1800"/>
                </a:lnSpc>
              </a:pPr>
            </a:p>
          </p:txBody>
        </p:sp>
      </p:grpSp>
      <p:sp>
        <p:nvSpPr>
          <p:cNvPr name="Freeform 7" id="7" descr="LOGO.jpg"/>
          <p:cNvSpPr/>
          <p:nvPr/>
        </p:nvSpPr>
        <p:spPr>
          <a:xfrm flipH="false" flipV="false" rot="0">
            <a:off x="8115300" y="800100"/>
            <a:ext cx="1471612" cy="1147762"/>
          </a:xfrm>
          <a:custGeom>
            <a:avLst/>
            <a:gdLst/>
            <a:ahLst/>
            <a:cxnLst/>
            <a:rect r="r" b="b" t="t" l="l"/>
            <a:pathLst>
              <a:path h="1147762" w="1471612">
                <a:moveTo>
                  <a:pt x="0" y="0"/>
                </a:moveTo>
                <a:lnTo>
                  <a:pt x="1471612" y="0"/>
                </a:lnTo>
                <a:lnTo>
                  <a:pt x="1471612" y="1147762"/>
                </a:lnTo>
                <a:lnTo>
                  <a:pt x="0" y="11477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53987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5" id="5" descr="preencoded.png">
            <a:hlinkClick r:id="rId5" tooltip="https://gamma.app/?utm_source=made-with-gamma"/>
          </p:cNvPr>
          <p:cNvSpPr/>
          <p:nvPr/>
        </p:nvSpPr>
        <p:spPr>
          <a:xfrm flipH="false" flipV="false" rot="0">
            <a:off x="16049015" y="9686925"/>
            <a:ext cx="2153260" cy="514350"/>
          </a:xfrm>
          <a:custGeom>
            <a:avLst/>
            <a:gdLst/>
            <a:ahLst/>
            <a:cxnLst/>
            <a:rect r="r" b="b" t="t" l="l"/>
            <a:pathLst>
              <a:path h="514350" w="2153260">
                <a:moveTo>
                  <a:pt x="0" y="0"/>
                </a:moveTo>
                <a:lnTo>
                  <a:pt x="2153260" y="0"/>
                </a:lnTo>
                <a:lnTo>
                  <a:pt x="215326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 descr="preencoded.png"/>
          <p:cNvSpPr/>
          <p:nvPr/>
        </p:nvSpPr>
        <p:spPr>
          <a:xfrm flipH="false" flipV="false" rot="0">
            <a:off x="11430000" y="0"/>
            <a:ext cx="6858000" cy="10287000"/>
          </a:xfrm>
          <a:custGeom>
            <a:avLst/>
            <a:gdLst/>
            <a:ahLst/>
            <a:cxnLst/>
            <a:rect r="r" b="b" t="t" l="l"/>
            <a:pathLst>
              <a:path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92238" y="2535736"/>
            <a:ext cx="9445523" cy="1908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2"/>
              </a:lnSpc>
            </a:pPr>
            <a:r>
              <a:rPr lang="en-US" sz="5812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Stress Sense: Understand, Track, Reduce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4754909"/>
            <a:ext cx="9445523" cy="294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7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 comprehensive platform designed to support student mental well-being throughout academic life through understanding stress patterns, tracking daily levels, and providing evidence-based tools for meaningful stress reduction.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633565" y="459734"/>
            <a:ext cx="11351123" cy="632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5"/>
              </a:lnSpc>
            </a:pPr>
            <a:r>
              <a:rPr lang="en-US" sz="3687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Supporting Student Well-Being Through Technology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33565" y="1449886"/>
            <a:ext cx="8289579" cy="1524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Stress Sense combines evidence-based mental health practices with modern technology to create a safe and supportive digital environment. The platform empowers students to reflect on their mental state, recognize stress triggers, and take timely action.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33565" y="3061097"/>
            <a:ext cx="8289579" cy="1162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By promoting self-awareness and balance, Stress Sense encourages healthier academic and personal lives while maintaining privacy and building trust.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9374391" y="1566862"/>
            <a:ext cx="8289579" cy="8289579"/>
          </a:xfrm>
          <a:custGeom>
            <a:avLst/>
            <a:gdLst/>
            <a:ahLst/>
            <a:cxnLst/>
            <a:rect r="r" b="b" t="t" l="l"/>
            <a:pathLst>
              <a:path h="8289579" w="8289579">
                <a:moveTo>
                  <a:pt x="0" y="0"/>
                </a:moveTo>
                <a:lnTo>
                  <a:pt x="8289579" y="0"/>
                </a:lnTo>
                <a:lnTo>
                  <a:pt x="8289579" y="8289579"/>
                </a:lnTo>
                <a:lnTo>
                  <a:pt x="0" y="82895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28802" y="10258873"/>
            <a:ext cx="5562448" cy="1085555"/>
            <a:chOff x="0" y="0"/>
            <a:chExt cx="7416597" cy="144740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6350" y="6350"/>
              <a:ext cx="7403847" cy="1434592"/>
            </a:xfrm>
            <a:custGeom>
              <a:avLst/>
              <a:gdLst/>
              <a:ahLst/>
              <a:cxnLst/>
              <a:rect r="r" b="b" t="t" l="l"/>
              <a:pathLst>
                <a:path h="1434592" w="7403847">
                  <a:moveTo>
                    <a:pt x="0" y="101346"/>
                  </a:moveTo>
                  <a:cubicBezTo>
                    <a:pt x="0" y="45339"/>
                    <a:pt x="45720" y="0"/>
                    <a:pt x="102108" y="0"/>
                  </a:cubicBezTo>
                  <a:lnTo>
                    <a:pt x="7301738" y="0"/>
                  </a:lnTo>
                  <a:cubicBezTo>
                    <a:pt x="7358126" y="0"/>
                    <a:pt x="7403847" y="45339"/>
                    <a:pt x="7403847" y="101346"/>
                  </a:cubicBezTo>
                  <a:lnTo>
                    <a:pt x="7403847" y="1333246"/>
                  </a:lnTo>
                  <a:cubicBezTo>
                    <a:pt x="7403847" y="1389253"/>
                    <a:pt x="7358126" y="1434592"/>
                    <a:pt x="7301738" y="1434592"/>
                  </a:cubicBezTo>
                  <a:lnTo>
                    <a:pt x="102108" y="1434592"/>
                  </a:lnTo>
                  <a:cubicBezTo>
                    <a:pt x="45720" y="1434592"/>
                    <a:pt x="0" y="1389253"/>
                    <a:pt x="0" y="1333246"/>
                  </a:cubicBezTo>
                  <a:close/>
                </a:path>
              </a:pathLst>
            </a:custGeom>
            <a:solidFill>
              <a:srgbClr val="CCEE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416547" cy="1447292"/>
            </a:xfrm>
            <a:custGeom>
              <a:avLst/>
              <a:gdLst/>
              <a:ahLst/>
              <a:cxnLst/>
              <a:rect r="r" b="b" t="t" l="l"/>
              <a:pathLst>
                <a:path h="1447292" w="7416547">
                  <a:moveTo>
                    <a:pt x="0" y="107696"/>
                  </a:moveTo>
                  <a:cubicBezTo>
                    <a:pt x="0" y="48133"/>
                    <a:pt x="48641" y="0"/>
                    <a:pt x="108458" y="0"/>
                  </a:cubicBezTo>
                  <a:lnTo>
                    <a:pt x="7308088" y="0"/>
                  </a:lnTo>
                  <a:lnTo>
                    <a:pt x="7308088" y="6350"/>
                  </a:lnTo>
                  <a:lnTo>
                    <a:pt x="7308088" y="0"/>
                  </a:lnTo>
                  <a:cubicBezTo>
                    <a:pt x="7367905" y="0"/>
                    <a:pt x="7416547" y="48133"/>
                    <a:pt x="7416547" y="107696"/>
                  </a:cubicBezTo>
                  <a:lnTo>
                    <a:pt x="7410197" y="107696"/>
                  </a:lnTo>
                  <a:lnTo>
                    <a:pt x="7416547" y="107696"/>
                  </a:lnTo>
                  <a:lnTo>
                    <a:pt x="7416547" y="1339596"/>
                  </a:lnTo>
                  <a:lnTo>
                    <a:pt x="7410197" y="1339596"/>
                  </a:lnTo>
                  <a:lnTo>
                    <a:pt x="7416547" y="1339596"/>
                  </a:lnTo>
                  <a:cubicBezTo>
                    <a:pt x="7416547" y="1399159"/>
                    <a:pt x="7367905" y="1447292"/>
                    <a:pt x="7308088" y="1447292"/>
                  </a:cubicBezTo>
                  <a:lnTo>
                    <a:pt x="7308088" y="1440942"/>
                  </a:lnTo>
                  <a:lnTo>
                    <a:pt x="7308088" y="1447292"/>
                  </a:lnTo>
                  <a:lnTo>
                    <a:pt x="108458" y="1447292"/>
                  </a:lnTo>
                  <a:lnTo>
                    <a:pt x="108458" y="1440942"/>
                  </a:lnTo>
                  <a:lnTo>
                    <a:pt x="108458" y="1447292"/>
                  </a:lnTo>
                  <a:cubicBezTo>
                    <a:pt x="48641" y="1447292"/>
                    <a:pt x="0" y="1399159"/>
                    <a:pt x="0" y="1339596"/>
                  </a:cubicBezTo>
                  <a:lnTo>
                    <a:pt x="0" y="107696"/>
                  </a:lnTo>
                  <a:lnTo>
                    <a:pt x="6350" y="107696"/>
                  </a:lnTo>
                  <a:lnTo>
                    <a:pt x="0" y="107696"/>
                  </a:lnTo>
                  <a:moveTo>
                    <a:pt x="12700" y="107696"/>
                  </a:moveTo>
                  <a:lnTo>
                    <a:pt x="12700" y="1339596"/>
                  </a:lnTo>
                  <a:lnTo>
                    <a:pt x="6350" y="1339596"/>
                  </a:lnTo>
                  <a:lnTo>
                    <a:pt x="12700" y="1339596"/>
                  </a:lnTo>
                  <a:cubicBezTo>
                    <a:pt x="12700" y="1392047"/>
                    <a:pt x="55499" y="1434592"/>
                    <a:pt x="108458" y="1434592"/>
                  </a:cubicBezTo>
                  <a:lnTo>
                    <a:pt x="7308088" y="1434592"/>
                  </a:lnTo>
                  <a:cubicBezTo>
                    <a:pt x="7361048" y="1434592"/>
                    <a:pt x="7403847" y="1392047"/>
                    <a:pt x="7403847" y="1339596"/>
                  </a:cubicBezTo>
                  <a:lnTo>
                    <a:pt x="7403847" y="107696"/>
                  </a:lnTo>
                  <a:cubicBezTo>
                    <a:pt x="7403847" y="55245"/>
                    <a:pt x="7361048" y="12700"/>
                    <a:pt x="7308088" y="12700"/>
                  </a:cubicBezTo>
                  <a:lnTo>
                    <a:pt x="108458" y="12700"/>
                  </a:lnTo>
                  <a:lnTo>
                    <a:pt x="108458" y="6350"/>
                  </a:lnTo>
                  <a:lnTo>
                    <a:pt x="108458" y="12700"/>
                  </a:lnTo>
                  <a:cubicBezTo>
                    <a:pt x="55499" y="12700"/>
                    <a:pt x="12700" y="55245"/>
                    <a:pt x="12700" y="107696"/>
                  </a:cubicBezTo>
                  <a:close/>
                </a:path>
              </a:pathLst>
            </a:custGeom>
            <a:solidFill>
              <a:srgbClr val="B2D4E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824065" y="10425560"/>
            <a:ext cx="2376192" cy="325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812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Evidence-Based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24065" y="10802541"/>
            <a:ext cx="5171923" cy="346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Built on proven mental health practices and research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362700" y="10258873"/>
            <a:ext cx="5562448" cy="1085555"/>
            <a:chOff x="0" y="0"/>
            <a:chExt cx="7416597" cy="144740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350" y="6350"/>
              <a:ext cx="7403847" cy="1434592"/>
            </a:xfrm>
            <a:custGeom>
              <a:avLst/>
              <a:gdLst/>
              <a:ahLst/>
              <a:cxnLst/>
              <a:rect r="r" b="b" t="t" l="l"/>
              <a:pathLst>
                <a:path h="1434592" w="7403847">
                  <a:moveTo>
                    <a:pt x="0" y="101346"/>
                  </a:moveTo>
                  <a:cubicBezTo>
                    <a:pt x="0" y="45339"/>
                    <a:pt x="45720" y="0"/>
                    <a:pt x="102108" y="0"/>
                  </a:cubicBezTo>
                  <a:lnTo>
                    <a:pt x="7301738" y="0"/>
                  </a:lnTo>
                  <a:cubicBezTo>
                    <a:pt x="7358126" y="0"/>
                    <a:pt x="7403847" y="45339"/>
                    <a:pt x="7403847" y="101346"/>
                  </a:cubicBezTo>
                  <a:lnTo>
                    <a:pt x="7403847" y="1333246"/>
                  </a:lnTo>
                  <a:cubicBezTo>
                    <a:pt x="7403847" y="1389253"/>
                    <a:pt x="7358126" y="1434592"/>
                    <a:pt x="7301738" y="1434592"/>
                  </a:cubicBezTo>
                  <a:lnTo>
                    <a:pt x="102108" y="1434592"/>
                  </a:lnTo>
                  <a:cubicBezTo>
                    <a:pt x="45720" y="1434592"/>
                    <a:pt x="0" y="1389253"/>
                    <a:pt x="0" y="1333246"/>
                  </a:cubicBezTo>
                  <a:close/>
                </a:path>
              </a:pathLst>
            </a:custGeom>
            <a:solidFill>
              <a:srgbClr val="CCEE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416547" cy="1447292"/>
            </a:xfrm>
            <a:custGeom>
              <a:avLst/>
              <a:gdLst/>
              <a:ahLst/>
              <a:cxnLst/>
              <a:rect r="r" b="b" t="t" l="l"/>
              <a:pathLst>
                <a:path h="1447292" w="7416547">
                  <a:moveTo>
                    <a:pt x="0" y="107696"/>
                  </a:moveTo>
                  <a:cubicBezTo>
                    <a:pt x="0" y="48133"/>
                    <a:pt x="48641" y="0"/>
                    <a:pt x="108458" y="0"/>
                  </a:cubicBezTo>
                  <a:lnTo>
                    <a:pt x="7308088" y="0"/>
                  </a:lnTo>
                  <a:lnTo>
                    <a:pt x="7308088" y="6350"/>
                  </a:lnTo>
                  <a:lnTo>
                    <a:pt x="7308088" y="0"/>
                  </a:lnTo>
                  <a:cubicBezTo>
                    <a:pt x="7367905" y="0"/>
                    <a:pt x="7416547" y="48133"/>
                    <a:pt x="7416547" y="107696"/>
                  </a:cubicBezTo>
                  <a:lnTo>
                    <a:pt x="7410197" y="107696"/>
                  </a:lnTo>
                  <a:lnTo>
                    <a:pt x="7416547" y="107696"/>
                  </a:lnTo>
                  <a:lnTo>
                    <a:pt x="7416547" y="1339596"/>
                  </a:lnTo>
                  <a:lnTo>
                    <a:pt x="7410197" y="1339596"/>
                  </a:lnTo>
                  <a:lnTo>
                    <a:pt x="7416547" y="1339596"/>
                  </a:lnTo>
                  <a:cubicBezTo>
                    <a:pt x="7416547" y="1399159"/>
                    <a:pt x="7367905" y="1447292"/>
                    <a:pt x="7308088" y="1447292"/>
                  </a:cubicBezTo>
                  <a:lnTo>
                    <a:pt x="7308088" y="1440942"/>
                  </a:lnTo>
                  <a:lnTo>
                    <a:pt x="7308088" y="1447292"/>
                  </a:lnTo>
                  <a:lnTo>
                    <a:pt x="108458" y="1447292"/>
                  </a:lnTo>
                  <a:lnTo>
                    <a:pt x="108458" y="1440942"/>
                  </a:lnTo>
                  <a:lnTo>
                    <a:pt x="108458" y="1447292"/>
                  </a:lnTo>
                  <a:cubicBezTo>
                    <a:pt x="48641" y="1447292"/>
                    <a:pt x="0" y="1399159"/>
                    <a:pt x="0" y="1339596"/>
                  </a:cubicBezTo>
                  <a:lnTo>
                    <a:pt x="0" y="107696"/>
                  </a:lnTo>
                  <a:lnTo>
                    <a:pt x="6350" y="107696"/>
                  </a:lnTo>
                  <a:lnTo>
                    <a:pt x="0" y="107696"/>
                  </a:lnTo>
                  <a:moveTo>
                    <a:pt x="12700" y="107696"/>
                  </a:moveTo>
                  <a:lnTo>
                    <a:pt x="12700" y="1339596"/>
                  </a:lnTo>
                  <a:lnTo>
                    <a:pt x="6350" y="1339596"/>
                  </a:lnTo>
                  <a:lnTo>
                    <a:pt x="12700" y="1339596"/>
                  </a:lnTo>
                  <a:cubicBezTo>
                    <a:pt x="12700" y="1392047"/>
                    <a:pt x="55499" y="1434592"/>
                    <a:pt x="108458" y="1434592"/>
                  </a:cubicBezTo>
                  <a:lnTo>
                    <a:pt x="7308088" y="1434592"/>
                  </a:lnTo>
                  <a:cubicBezTo>
                    <a:pt x="7361048" y="1434592"/>
                    <a:pt x="7403847" y="1392047"/>
                    <a:pt x="7403847" y="1339596"/>
                  </a:cubicBezTo>
                  <a:lnTo>
                    <a:pt x="7403847" y="107696"/>
                  </a:lnTo>
                  <a:cubicBezTo>
                    <a:pt x="7403847" y="55245"/>
                    <a:pt x="7361048" y="12700"/>
                    <a:pt x="7308088" y="12700"/>
                  </a:cubicBezTo>
                  <a:lnTo>
                    <a:pt x="108458" y="12700"/>
                  </a:lnTo>
                  <a:lnTo>
                    <a:pt x="108458" y="6350"/>
                  </a:lnTo>
                  <a:lnTo>
                    <a:pt x="108458" y="12700"/>
                  </a:lnTo>
                  <a:cubicBezTo>
                    <a:pt x="55499" y="12700"/>
                    <a:pt x="12700" y="55245"/>
                    <a:pt x="12700" y="107696"/>
                  </a:cubicBezTo>
                  <a:close/>
                </a:path>
              </a:pathLst>
            </a:custGeom>
            <a:solidFill>
              <a:srgbClr val="B2D4E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6557962" y="10425560"/>
            <a:ext cx="2376192" cy="325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812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Student-Focused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557962" y="10802541"/>
            <a:ext cx="5171923" cy="346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Designed specifically for academic life challenges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096598" y="10258873"/>
            <a:ext cx="5562448" cy="1085555"/>
            <a:chOff x="0" y="0"/>
            <a:chExt cx="7416597" cy="144740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6350" y="6350"/>
              <a:ext cx="7403847" cy="1434592"/>
            </a:xfrm>
            <a:custGeom>
              <a:avLst/>
              <a:gdLst/>
              <a:ahLst/>
              <a:cxnLst/>
              <a:rect r="r" b="b" t="t" l="l"/>
              <a:pathLst>
                <a:path h="1434592" w="7403847">
                  <a:moveTo>
                    <a:pt x="0" y="101346"/>
                  </a:moveTo>
                  <a:cubicBezTo>
                    <a:pt x="0" y="45339"/>
                    <a:pt x="45720" y="0"/>
                    <a:pt x="102108" y="0"/>
                  </a:cubicBezTo>
                  <a:lnTo>
                    <a:pt x="7301738" y="0"/>
                  </a:lnTo>
                  <a:cubicBezTo>
                    <a:pt x="7358126" y="0"/>
                    <a:pt x="7403847" y="45339"/>
                    <a:pt x="7403847" y="101346"/>
                  </a:cubicBezTo>
                  <a:lnTo>
                    <a:pt x="7403847" y="1333246"/>
                  </a:lnTo>
                  <a:cubicBezTo>
                    <a:pt x="7403847" y="1389253"/>
                    <a:pt x="7358126" y="1434592"/>
                    <a:pt x="7301738" y="1434592"/>
                  </a:cubicBezTo>
                  <a:lnTo>
                    <a:pt x="102108" y="1434592"/>
                  </a:lnTo>
                  <a:cubicBezTo>
                    <a:pt x="45720" y="1434592"/>
                    <a:pt x="0" y="1389253"/>
                    <a:pt x="0" y="1333246"/>
                  </a:cubicBezTo>
                  <a:close/>
                </a:path>
              </a:pathLst>
            </a:custGeom>
            <a:solidFill>
              <a:srgbClr val="CCEE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416547" cy="1447292"/>
            </a:xfrm>
            <a:custGeom>
              <a:avLst/>
              <a:gdLst/>
              <a:ahLst/>
              <a:cxnLst/>
              <a:rect r="r" b="b" t="t" l="l"/>
              <a:pathLst>
                <a:path h="1447292" w="7416547">
                  <a:moveTo>
                    <a:pt x="0" y="107696"/>
                  </a:moveTo>
                  <a:cubicBezTo>
                    <a:pt x="0" y="48133"/>
                    <a:pt x="48641" y="0"/>
                    <a:pt x="108458" y="0"/>
                  </a:cubicBezTo>
                  <a:lnTo>
                    <a:pt x="7308088" y="0"/>
                  </a:lnTo>
                  <a:lnTo>
                    <a:pt x="7308088" y="6350"/>
                  </a:lnTo>
                  <a:lnTo>
                    <a:pt x="7308088" y="0"/>
                  </a:lnTo>
                  <a:cubicBezTo>
                    <a:pt x="7367905" y="0"/>
                    <a:pt x="7416547" y="48133"/>
                    <a:pt x="7416547" y="107696"/>
                  </a:cubicBezTo>
                  <a:lnTo>
                    <a:pt x="7410197" y="107696"/>
                  </a:lnTo>
                  <a:lnTo>
                    <a:pt x="7416547" y="107696"/>
                  </a:lnTo>
                  <a:lnTo>
                    <a:pt x="7416547" y="1339596"/>
                  </a:lnTo>
                  <a:lnTo>
                    <a:pt x="7410197" y="1339596"/>
                  </a:lnTo>
                  <a:lnTo>
                    <a:pt x="7416547" y="1339596"/>
                  </a:lnTo>
                  <a:cubicBezTo>
                    <a:pt x="7416547" y="1399159"/>
                    <a:pt x="7367905" y="1447292"/>
                    <a:pt x="7308088" y="1447292"/>
                  </a:cubicBezTo>
                  <a:lnTo>
                    <a:pt x="7308088" y="1440942"/>
                  </a:lnTo>
                  <a:lnTo>
                    <a:pt x="7308088" y="1447292"/>
                  </a:lnTo>
                  <a:lnTo>
                    <a:pt x="108458" y="1447292"/>
                  </a:lnTo>
                  <a:lnTo>
                    <a:pt x="108458" y="1440942"/>
                  </a:lnTo>
                  <a:lnTo>
                    <a:pt x="108458" y="1447292"/>
                  </a:lnTo>
                  <a:cubicBezTo>
                    <a:pt x="48641" y="1447292"/>
                    <a:pt x="0" y="1399159"/>
                    <a:pt x="0" y="1339596"/>
                  </a:cubicBezTo>
                  <a:lnTo>
                    <a:pt x="0" y="107696"/>
                  </a:lnTo>
                  <a:lnTo>
                    <a:pt x="6350" y="107696"/>
                  </a:lnTo>
                  <a:lnTo>
                    <a:pt x="0" y="107696"/>
                  </a:lnTo>
                  <a:moveTo>
                    <a:pt x="12700" y="107696"/>
                  </a:moveTo>
                  <a:lnTo>
                    <a:pt x="12700" y="1339596"/>
                  </a:lnTo>
                  <a:lnTo>
                    <a:pt x="6350" y="1339596"/>
                  </a:lnTo>
                  <a:lnTo>
                    <a:pt x="12700" y="1339596"/>
                  </a:lnTo>
                  <a:cubicBezTo>
                    <a:pt x="12700" y="1392047"/>
                    <a:pt x="55499" y="1434592"/>
                    <a:pt x="108458" y="1434592"/>
                  </a:cubicBezTo>
                  <a:lnTo>
                    <a:pt x="7308088" y="1434592"/>
                  </a:lnTo>
                  <a:cubicBezTo>
                    <a:pt x="7361048" y="1434592"/>
                    <a:pt x="7403847" y="1392047"/>
                    <a:pt x="7403847" y="1339596"/>
                  </a:cubicBezTo>
                  <a:lnTo>
                    <a:pt x="7403847" y="107696"/>
                  </a:lnTo>
                  <a:cubicBezTo>
                    <a:pt x="7403847" y="55245"/>
                    <a:pt x="7361048" y="12700"/>
                    <a:pt x="7308088" y="12700"/>
                  </a:cubicBezTo>
                  <a:lnTo>
                    <a:pt x="108458" y="12700"/>
                  </a:lnTo>
                  <a:lnTo>
                    <a:pt x="108458" y="6350"/>
                  </a:lnTo>
                  <a:lnTo>
                    <a:pt x="108458" y="12700"/>
                  </a:lnTo>
                  <a:cubicBezTo>
                    <a:pt x="55499" y="12700"/>
                    <a:pt x="12700" y="55245"/>
                    <a:pt x="12700" y="107696"/>
                  </a:cubicBezTo>
                  <a:close/>
                </a:path>
              </a:pathLst>
            </a:custGeom>
            <a:solidFill>
              <a:srgbClr val="B2D4E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2291860" y="10425560"/>
            <a:ext cx="2376192" cy="325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812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Safe Environment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291860" y="10802541"/>
            <a:ext cx="5171923" cy="346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Privacy-first approach with ethical data practices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992238" y="948776"/>
            <a:ext cx="7442749" cy="977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2"/>
              </a:lnSpc>
            </a:pPr>
            <a:r>
              <a:rPr lang="en-US" sz="5812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Core System Modules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2238" y="2408034"/>
            <a:ext cx="16303523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Each module addresses a specific aspect of student mental health to form a holistic support system that guides students from awareness to action.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615185"/>
            <a:ext cx="283521" cy="459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Petrona Light"/>
                <a:ea typeface="Petrona Light"/>
                <a:cs typeface="Petrona Light"/>
                <a:sym typeface="Petrona Light"/>
              </a:rPr>
              <a:t>01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238" y="4163768"/>
            <a:ext cx="8009934" cy="38100"/>
            <a:chOff x="0" y="0"/>
            <a:chExt cx="10679913" cy="50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79938" cy="50800"/>
            </a:xfrm>
            <a:custGeom>
              <a:avLst/>
              <a:gdLst/>
              <a:ahLst/>
              <a:cxnLst/>
              <a:rect r="r" b="b" t="t" l="l"/>
              <a:pathLst>
                <a:path h="50800" w="10679938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7EB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4353077"/>
            <a:ext cx="3721303" cy="493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Daily Stress Check-In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4931121"/>
            <a:ext cx="8009934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Quick daily assessments to monitor current stress levels and emotional state through simple, non-intrusive questions.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85684" y="3615185"/>
            <a:ext cx="283521" cy="459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Petrona Light"/>
                <a:ea typeface="Petrona Light"/>
                <a:cs typeface="Petrona Light"/>
                <a:sym typeface="Petrona Light"/>
              </a:rPr>
              <a:t>02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285684" y="4163768"/>
            <a:ext cx="8010077" cy="38100"/>
            <a:chOff x="0" y="0"/>
            <a:chExt cx="10680103" cy="50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680065" cy="50800"/>
            </a:xfrm>
            <a:custGeom>
              <a:avLst/>
              <a:gdLst/>
              <a:ahLst/>
              <a:cxnLst/>
              <a:rect r="r" b="b" t="t" l="l"/>
              <a:pathLst>
                <a:path h="50800" w="10680065">
                  <a:moveTo>
                    <a:pt x="0" y="0"/>
                  </a:moveTo>
                  <a:lnTo>
                    <a:pt x="10680065" y="0"/>
                  </a:lnTo>
                  <a:lnTo>
                    <a:pt x="10680065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7EB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9285684" y="4353077"/>
            <a:ext cx="4811163" cy="493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Stress Trigger Identification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285684" y="4931121"/>
            <a:ext cx="8010077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Analyzes patterns to identify and explain key causes of student stress, from academic pressure to personal challenges.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92238" y="6768998"/>
            <a:ext cx="283521" cy="459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Petrona Light"/>
                <a:ea typeface="Petrona Light"/>
                <a:cs typeface="Petrona Light"/>
                <a:sym typeface="Petrona Light"/>
              </a:rPr>
              <a:t>03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92238" y="7317581"/>
            <a:ext cx="8009934" cy="38100"/>
            <a:chOff x="0" y="0"/>
            <a:chExt cx="10679913" cy="50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679938" cy="50800"/>
            </a:xfrm>
            <a:custGeom>
              <a:avLst/>
              <a:gdLst/>
              <a:ahLst/>
              <a:cxnLst/>
              <a:rect r="r" b="b" t="t" l="l"/>
              <a:pathLst>
                <a:path h="50800" w="10679938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7EB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992238" y="7506891"/>
            <a:ext cx="3721303" cy="493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Stress Dashboard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92238" y="8084934"/>
            <a:ext cx="8009934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Visualizes stress trends, levels, and insights over time with intuitive charts and personalized analytics.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285684" y="6768998"/>
            <a:ext cx="283521" cy="459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Petrona Light"/>
                <a:ea typeface="Petrona Light"/>
                <a:cs typeface="Petrona Light"/>
                <a:sym typeface="Petrona Light"/>
              </a:rPr>
              <a:t>04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285684" y="7317581"/>
            <a:ext cx="8010077" cy="38100"/>
            <a:chOff x="0" y="0"/>
            <a:chExt cx="10680103" cy="50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680065" cy="50800"/>
            </a:xfrm>
            <a:custGeom>
              <a:avLst/>
              <a:gdLst/>
              <a:ahLst/>
              <a:cxnLst/>
              <a:rect r="r" b="b" t="t" l="l"/>
              <a:pathLst>
                <a:path h="50800" w="10680065">
                  <a:moveTo>
                    <a:pt x="0" y="0"/>
                  </a:moveTo>
                  <a:lnTo>
                    <a:pt x="10680065" y="0"/>
                  </a:lnTo>
                  <a:lnTo>
                    <a:pt x="10680065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7EB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9285684" y="7506891"/>
            <a:ext cx="3721303" cy="493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Self-Help Tools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285684" y="8084934"/>
            <a:ext cx="8010077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Provides calming activities and evidence-based stress-reduction resources available anytime, anywhere.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789832" y="582511"/>
            <a:ext cx="13101342" cy="778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2"/>
              </a:lnSpc>
            </a:pPr>
            <a:r>
              <a:rPr lang="en-US" sz="4625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Stress Analysis, Scoring &amp; Early Warning System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89832" y="1896666"/>
            <a:ext cx="5157340" cy="472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Personalized Stress Assessment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89832" y="2519067"/>
            <a:ext cx="11185322" cy="79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Students answer questions related to workload, sleep quality, mood, and focus to generate a personalized stress score reflecting current mental well-being.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9832" y="3444478"/>
            <a:ext cx="11185322" cy="79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When stress reaches concerning levels, the </a:t>
            </a:r>
            <a:r>
              <a:rPr lang="en-US" sz="1750" b="true">
                <a:solidFill>
                  <a:srgbClr val="007EBD"/>
                </a:solidFill>
                <a:latin typeface="Inter Bold"/>
                <a:ea typeface="Inter Bold"/>
                <a:cs typeface="Inter Bold"/>
                <a:sym typeface="Inter Bold"/>
              </a:rPr>
              <a:t>Early Warning System</a:t>
            </a:r>
            <a:r>
              <a:rPr lang="en-US" sz="17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proactively notifies students with specific date and time details, enabling timely intervention and self-care actions.</a:t>
            </a:r>
          </a:p>
        </p:txBody>
      </p:sp>
      <p:sp>
        <p:nvSpPr>
          <p:cNvPr name="Freeform 9" id="9" descr="preencoded.png"/>
          <p:cNvSpPr/>
          <p:nvPr/>
        </p:nvSpPr>
        <p:spPr>
          <a:xfrm flipH="false" flipV="false" rot="0">
            <a:off x="12535348" y="1953520"/>
            <a:ext cx="4972202" cy="4972202"/>
          </a:xfrm>
          <a:custGeom>
            <a:avLst/>
            <a:gdLst/>
            <a:ahLst/>
            <a:cxnLst/>
            <a:rect r="r" b="b" t="t" l="l"/>
            <a:pathLst>
              <a:path h="4972202" w="4972202">
                <a:moveTo>
                  <a:pt x="0" y="0"/>
                </a:moveTo>
                <a:lnTo>
                  <a:pt x="4972202" y="0"/>
                </a:lnTo>
                <a:lnTo>
                  <a:pt x="4972202" y="4972203"/>
                </a:lnTo>
                <a:lnTo>
                  <a:pt x="0" y="49722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775545" y="8286598"/>
            <a:ext cx="5447557" cy="1764802"/>
            <a:chOff x="0" y="0"/>
            <a:chExt cx="7263409" cy="235306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9050" y="19050"/>
              <a:ext cx="7225284" cy="2314956"/>
            </a:xfrm>
            <a:custGeom>
              <a:avLst/>
              <a:gdLst/>
              <a:ahLst/>
              <a:cxnLst/>
              <a:rect r="r" b="b" t="t" l="l"/>
              <a:pathLst>
                <a:path h="2314956" w="7225284">
                  <a:moveTo>
                    <a:pt x="0" y="182880"/>
                  </a:moveTo>
                  <a:cubicBezTo>
                    <a:pt x="0" y="81915"/>
                    <a:pt x="82804" y="0"/>
                    <a:pt x="184912" y="0"/>
                  </a:cubicBezTo>
                  <a:lnTo>
                    <a:pt x="7040372" y="0"/>
                  </a:lnTo>
                  <a:cubicBezTo>
                    <a:pt x="7142480" y="0"/>
                    <a:pt x="7225284" y="81915"/>
                    <a:pt x="7225284" y="182880"/>
                  </a:cubicBezTo>
                  <a:lnTo>
                    <a:pt x="7225284" y="2132076"/>
                  </a:lnTo>
                  <a:cubicBezTo>
                    <a:pt x="7225284" y="2233041"/>
                    <a:pt x="7142480" y="2314956"/>
                    <a:pt x="7040372" y="2314956"/>
                  </a:cubicBezTo>
                  <a:lnTo>
                    <a:pt x="184912" y="2314956"/>
                  </a:lnTo>
                  <a:cubicBezTo>
                    <a:pt x="82804" y="2314956"/>
                    <a:pt x="0" y="2233041"/>
                    <a:pt x="0" y="2132076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263384" cy="2353056"/>
            </a:xfrm>
            <a:custGeom>
              <a:avLst/>
              <a:gdLst/>
              <a:ahLst/>
              <a:cxnLst/>
              <a:rect r="r" b="b" t="t" l="l"/>
              <a:pathLst>
                <a:path h="2353056" w="7263384">
                  <a:moveTo>
                    <a:pt x="0" y="201930"/>
                  </a:moveTo>
                  <a:cubicBezTo>
                    <a:pt x="0" y="90170"/>
                    <a:pt x="91567" y="0"/>
                    <a:pt x="203962" y="0"/>
                  </a:cubicBezTo>
                  <a:lnTo>
                    <a:pt x="7059422" y="0"/>
                  </a:lnTo>
                  <a:lnTo>
                    <a:pt x="7059422" y="19050"/>
                  </a:lnTo>
                  <a:lnTo>
                    <a:pt x="7059422" y="0"/>
                  </a:lnTo>
                  <a:cubicBezTo>
                    <a:pt x="7171817" y="0"/>
                    <a:pt x="7263384" y="90170"/>
                    <a:pt x="7263384" y="201930"/>
                  </a:cubicBezTo>
                  <a:lnTo>
                    <a:pt x="7244334" y="201930"/>
                  </a:lnTo>
                  <a:lnTo>
                    <a:pt x="7263384" y="201930"/>
                  </a:lnTo>
                  <a:lnTo>
                    <a:pt x="7263384" y="2151126"/>
                  </a:lnTo>
                  <a:lnTo>
                    <a:pt x="7244334" y="2151126"/>
                  </a:lnTo>
                  <a:lnTo>
                    <a:pt x="7263384" y="2151126"/>
                  </a:lnTo>
                  <a:cubicBezTo>
                    <a:pt x="7263384" y="2262886"/>
                    <a:pt x="7171817" y="2353056"/>
                    <a:pt x="7059422" y="2353056"/>
                  </a:cubicBezTo>
                  <a:lnTo>
                    <a:pt x="7059422" y="2334006"/>
                  </a:lnTo>
                  <a:lnTo>
                    <a:pt x="7059422" y="2353056"/>
                  </a:lnTo>
                  <a:lnTo>
                    <a:pt x="203962" y="2353056"/>
                  </a:lnTo>
                  <a:lnTo>
                    <a:pt x="203962" y="2334006"/>
                  </a:lnTo>
                  <a:lnTo>
                    <a:pt x="203962" y="2353056"/>
                  </a:lnTo>
                  <a:cubicBezTo>
                    <a:pt x="91567" y="2353056"/>
                    <a:pt x="0" y="2262886"/>
                    <a:pt x="0" y="2151126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151126"/>
                  </a:lnTo>
                  <a:lnTo>
                    <a:pt x="19050" y="2151126"/>
                  </a:lnTo>
                  <a:lnTo>
                    <a:pt x="38100" y="2151126"/>
                  </a:lnTo>
                  <a:cubicBezTo>
                    <a:pt x="38100" y="2241423"/>
                    <a:pt x="112141" y="2314956"/>
                    <a:pt x="203962" y="2314956"/>
                  </a:cubicBezTo>
                  <a:lnTo>
                    <a:pt x="7059422" y="2314956"/>
                  </a:lnTo>
                  <a:cubicBezTo>
                    <a:pt x="7151243" y="2314956"/>
                    <a:pt x="7225284" y="2241423"/>
                    <a:pt x="7225284" y="2151126"/>
                  </a:cubicBezTo>
                  <a:lnTo>
                    <a:pt x="7225284" y="201930"/>
                  </a:lnTo>
                  <a:cubicBezTo>
                    <a:pt x="7225284" y="111633"/>
                    <a:pt x="7151243" y="38100"/>
                    <a:pt x="7059422" y="38100"/>
                  </a:cubicBezTo>
                  <a:lnTo>
                    <a:pt x="203962" y="38100"/>
                  </a:lnTo>
                  <a:lnTo>
                    <a:pt x="203962" y="19050"/>
                  </a:lnTo>
                  <a:lnTo>
                    <a:pt x="203962" y="38100"/>
                  </a:lnTo>
                  <a:cubicBezTo>
                    <a:pt x="112141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B2D4E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761257" y="8300885"/>
            <a:ext cx="114300" cy="1736227"/>
            <a:chOff x="0" y="0"/>
            <a:chExt cx="152400" cy="231496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2400" cy="2314956"/>
            </a:xfrm>
            <a:custGeom>
              <a:avLst/>
              <a:gdLst/>
              <a:ahLst/>
              <a:cxnLst/>
              <a:rect r="r" b="b" t="t" l="l"/>
              <a:pathLst>
                <a:path h="2314956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2238756"/>
                  </a:lnTo>
                  <a:cubicBezTo>
                    <a:pt x="152400" y="2280793"/>
                    <a:pt x="118237" y="2314956"/>
                    <a:pt x="76200" y="2314956"/>
                  </a:cubicBezTo>
                  <a:cubicBezTo>
                    <a:pt x="34163" y="2314956"/>
                    <a:pt x="0" y="2280793"/>
                    <a:pt x="0" y="2238756"/>
                  </a:cubicBezTo>
                  <a:close/>
                </a:path>
              </a:pathLst>
            </a:custGeom>
            <a:solidFill>
              <a:srgbClr val="007EB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129751" y="8536038"/>
            <a:ext cx="2962275" cy="389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Personalized Insights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29751" y="8984304"/>
            <a:ext cx="4824860" cy="79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Tailored feedback based on individual patterns and responses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420145" y="8286598"/>
            <a:ext cx="5447557" cy="1764802"/>
            <a:chOff x="0" y="0"/>
            <a:chExt cx="7263409" cy="235306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9050" y="19050"/>
              <a:ext cx="7225284" cy="2314956"/>
            </a:xfrm>
            <a:custGeom>
              <a:avLst/>
              <a:gdLst/>
              <a:ahLst/>
              <a:cxnLst/>
              <a:rect r="r" b="b" t="t" l="l"/>
              <a:pathLst>
                <a:path h="2314956" w="7225284">
                  <a:moveTo>
                    <a:pt x="0" y="182880"/>
                  </a:moveTo>
                  <a:cubicBezTo>
                    <a:pt x="0" y="81915"/>
                    <a:pt x="82804" y="0"/>
                    <a:pt x="184912" y="0"/>
                  </a:cubicBezTo>
                  <a:lnTo>
                    <a:pt x="7040372" y="0"/>
                  </a:lnTo>
                  <a:cubicBezTo>
                    <a:pt x="7142480" y="0"/>
                    <a:pt x="7225284" y="81915"/>
                    <a:pt x="7225284" y="182880"/>
                  </a:cubicBezTo>
                  <a:lnTo>
                    <a:pt x="7225284" y="2132076"/>
                  </a:lnTo>
                  <a:cubicBezTo>
                    <a:pt x="7225284" y="2233041"/>
                    <a:pt x="7142480" y="2314956"/>
                    <a:pt x="7040372" y="2314956"/>
                  </a:cubicBezTo>
                  <a:lnTo>
                    <a:pt x="184912" y="2314956"/>
                  </a:lnTo>
                  <a:cubicBezTo>
                    <a:pt x="82804" y="2314956"/>
                    <a:pt x="0" y="2233041"/>
                    <a:pt x="0" y="2132076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263384" cy="2353056"/>
            </a:xfrm>
            <a:custGeom>
              <a:avLst/>
              <a:gdLst/>
              <a:ahLst/>
              <a:cxnLst/>
              <a:rect r="r" b="b" t="t" l="l"/>
              <a:pathLst>
                <a:path h="2353056" w="7263384">
                  <a:moveTo>
                    <a:pt x="0" y="201930"/>
                  </a:moveTo>
                  <a:cubicBezTo>
                    <a:pt x="0" y="90170"/>
                    <a:pt x="91567" y="0"/>
                    <a:pt x="203962" y="0"/>
                  </a:cubicBezTo>
                  <a:lnTo>
                    <a:pt x="7059422" y="0"/>
                  </a:lnTo>
                  <a:lnTo>
                    <a:pt x="7059422" y="19050"/>
                  </a:lnTo>
                  <a:lnTo>
                    <a:pt x="7059422" y="0"/>
                  </a:lnTo>
                  <a:cubicBezTo>
                    <a:pt x="7171817" y="0"/>
                    <a:pt x="7263384" y="90170"/>
                    <a:pt x="7263384" y="201930"/>
                  </a:cubicBezTo>
                  <a:lnTo>
                    <a:pt x="7244334" y="201930"/>
                  </a:lnTo>
                  <a:lnTo>
                    <a:pt x="7263384" y="201930"/>
                  </a:lnTo>
                  <a:lnTo>
                    <a:pt x="7263384" y="2151126"/>
                  </a:lnTo>
                  <a:lnTo>
                    <a:pt x="7244334" y="2151126"/>
                  </a:lnTo>
                  <a:lnTo>
                    <a:pt x="7263384" y="2151126"/>
                  </a:lnTo>
                  <a:cubicBezTo>
                    <a:pt x="7263384" y="2262886"/>
                    <a:pt x="7171817" y="2353056"/>
                    <a:pt x="7059422" y="2353056"/>
                  </a:cubicBezTo>
                  <a:lnTo>
                    <a:pt x="7059422" y="2334006"/>
                  </a:lnTo>
                  <a:lnTo>
                    <a:pt x="7059422" y="2353056"/>
                  </a:lnTo>
                  <a:lnTo>
                    <a:pt x="203962" y="2353056"/>
                  </a:lnTo>
                  <a:lnTo>
                    <a:pt x="203962" y="2334006"/>
                  </a:lnTo>
                  <a:lnTo>
                    <a:pt x="203962" y="2353056"/>
                  </a:lnTo>
                  <a:cubicBezTo>
                    <a:pt x="91567" y="2353056"/>
                    <a:pt x="0" y="2262886"/>
                    <a:pt x="0" y="2151126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151126"/>
                  </a:lnTo>
                  <a:lnTo>
                    <a:pt x="19050" y="2151126"/>
                  </a:lnTo>
                  <a:lnTo>
                    <a:pt x="38100" y="2151126"/>
                  </a:lnTo>
                  <a:cubicBezTo>
                    <a:pt x="38100" y="2241423"/>
                    <a:pt x="112141" y="2314956"/>
                    <a:pt x="203962" y="2314956"/>
                  </a:cubicBezTo>
                  <a:lnTo>
                    <a:pt x="7059422" y="2314956"/>
                  </a:lnTo>
                  <a:cubicBezTo>
                    <a:pt x="7151243" y="2314956"/>
                    <a:pt x="7225284" y="2241423"/>
                    <a:pt x="7225284" y="2151126"/>
                  </a:cubicBezTo>
                  <a:lnTo>
                    <a:pt x="7225284" y="201930"/>
                  </a:lnTo>
                  <a:cubicBezTo>
                    <a:pt x="7225284" y="111633"/>
                    <a:pt x="7151243" y="38100"/>
                    <a:pt x="7059422" y="38100"/>
                  </a:cubicBezTo>
                  <a:lnTo>
                    <a:pt x="203962" y="38100"/>
                  </a:lnTo>
                  <a:lnTo>
                    <a:pt x="203962" y="19050"/>
                  </a:lnTo>
                  <a:lnTo>
                    <a:pt x="203962" y="38100"/>
                  </a:lnTo>
                  <a:cubicBezTo>
                    <a:pt x="112141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B2D4E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6405858" y="8300885"/>
            <a:ext cx="114300" cy="1736227"/>
            <a:chOff x="0" y="0"/>
            <a:chExt cx="152400" cy="231496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2400" cy="2314956"/>
            </a:xfrm>
            <a:custGeom>
              <a:avLst/>
              <a:gdLst/>
              <a:ahLst/>
              <a:cxnLst/>
              <a:rect r="r" b="b" t="t" l="l"/>
              <a:pathLst>
                <a:path h="2314956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2238756"/>
                  </a:lnTo>
                  <a:cubicBezTo>
                    <a:pt x="152400" y="2280793"/>
                    <a:pt x="118237" y="2314956"/>
                    <a:pt x="76200" y="2314956"/>
                  </a:cubicBezTo>
                  <a:cubicBezTo>
                    <a:pt x="34163" y="2314956"/>
                    <a:pt x="0" y="2280793"/>
                    <a:pt x="0" y="2238756"/>
                  </a:cubicBezTo>
                  <a:close/>
                </a:path>
              </a:pathLst>
            </a:custGeom>
            <a:solidFill>
              <a:srgbClr val="007EB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6774361" y="8536038"/>
            <a:ext cx="2962275" cy="389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Proactive Alerts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774361" y="8984304"/>
            <a:ext cx="4824860" cy="79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Timely notifications when intervention may be beneficial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2064756" y="8286598"/>
            <a:ext cx="5447557" cy="1764802"/>
            <a:chOff x="0" y="0"/>
            <a:chExt cx="7263409" cy="235306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9050" y="19050"/>
              <a:ext cx="7225284" cy="2314956"/>
            </a:xfrm>
            <a:custGeom>
              <a:avLst/>
              <a:gdLst/>
              <a:ahLst/>
              <a:cxnLst/>
              <a:rect r="r" b="b" t="t" l="l"/>
              <a:pathLst>
                <a:path h="2314956" w="7225284">
                  <a:moveTo>
                    <a:pt x="0" y="182880"/>
                  </a:moveTo>
                  <a:cubicBezTo>
                    <a:pt x="0" y="81915"/>
                    <a:pt x="82804" y="0"/>
                    <a:pt x="184912" y="0"/>
                  </a:cubicBezTo>
                  <a:lnTo>
                    <a:pt x="7040372" y="0"/>
                  </a:lnTo>
                  <a:cubicBezTo>
                    <a:pt x="7142480" y="0"/>
                    <a:pt x="7225284" y="81915"/>
                    <a:pt x="7225284" y="182880"/>
                  </a:cubicBezTo>
                  <a:lnTo>
                    <a:pt x="7225284" y="2132076"/>
                  </a:lnTo>
                  <a:cubicBezTo>
                    <a:pt x="7225284" y="2233041"/>
                    <a:pt x="7142480" y="2314956"/>
                    <a:pt x="7040372" y="2314956"/>
                  </a:cubicBezTo>
                  <a:lnTo>
                    <a:pt x="184912" y="2314956"/>
                  </a:lnTo>
                  <a:cubicBezTo>
                    <a:pt x="82804" y="2314956"/>
                    <a:pt x="0" y="2233041"/>
                    <a:pt x="0" y="2132076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263384" cy="2353056"/>
            </a:xfrm>
            <a:custGeom>
              <a:avLst/>
              <a:gdLst/>
              <a:ahLst/>
              <a:cxnLst/>
              <a:rect r="r" b="b" t="t" l="l"/>
              <a:pathLst>
                <a:path h="2353056" w="7263384">
                  <a:moveTo>
                    <a:pt x="0" y="201930"/>
                  </a:moveTo>
                  <a:cubicBezTo>
                    <a:pt x="0" y="90170"/>
                    <a:pt x="91567" y="0"/>
                    <a:pt x="203962" y="0"/>
                  </a:cubicBezTo>
                  <a:lnTo>
                    <a:pt x="7059422" y="0"/>
                  </a:lnTo>
                  <a:lnTo>
                    <a:pt x="7059422" y="19050"/>
                  </a:lnTo>
                  <a:lnTo>
                    <a:pt x="7059422" y="0"/>
                  </a:lnTo>
                  <a:cubicBezTo>
                    <a:pt x="7171817" y="0"/>
                    <a:pt x="7263384" y="90170"/>
                    <a:pt x="7263384" y="201930"/>
                  </a:cubicBezTo>
                  <a:lnTo>
                    <a:pt x="7244334" y="201930"/>
                  </a:lnTo>
                  <a:lnTo>
                    <a:pt x="7263384" y="201930"/>
                  </a:lnTo>
                  <a:lnTo>
                    <a:pt x="7263384" y="2151126"/>
                  </a:lnTo>
                  <a:lnTo>
                    <a:pt x="7244334" y="2151126"/>
                  </a:lnTo>
                  <a:lnTo>
                    <a:pt x="7263384" y="2151126"/>
                  </a:lnTo>
                  <a:cubicBezTo>
                    <a:pt x="7263384" y="2262886"/>
                    <a:pt x="7171817" y="2353056"/>
                    <a:pt x="7059422" y="2353056"/>
                  </a:cubicBezTo>
                  <a:lnTo>
                    <a:pt x="7059422" y="2334006"/>
                  </a:lnTo>
                  <a:lnTo>
                    <a:pt x="7059422" y="2353056"/>
                  </a:lnTo>
                  <a:lnTo>
                    <a:pt x="203962" y="2353056"/>
                  </a:lnTo>
                  <a:lnTo>
                    <a:pt x="203962" y="2334006"/>
                  </a:lnTo>
                  <a:lnTo>
                    <a:pt x="203962" y="2353056"/>
                  </a:lnTo>
                  <a:cubicBezTo>
                    <a:pt x="91567" y="2353056"/>
                    <a:pt x="0" y="2262886"/>
                    <a:pt x="0" y="2151126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151126"/>
                  </a:lnTo>
                  <a:lnTo>
                    <a:pt x="19050" y="2151126"/>
                  </a:lnTo>
                  <a:lnTo>
                    <a:pt x="38100" y="2151126"/>
                  </a:lnTo>
                  <a:cubicBezTo>
                    <a:pt x="38100" y="2241423"/>
                    <a:pt x="112141" y="2314956"/>
                    <a:pt x="203962" y="2314956"/>
                  </a:cubicBezTo>
                  <a:lnTo>
                    <a:pt x="7059422" y="2314956"/>
                  </a:lnTo>
                  <a:cubicBezTo>
                    <a:pt x="7151243" y="2314956"/>
                    <a:pt x="7225284" y="2241423"/>
                    <a:pt x="7225284" y="2151126"/>
                  </a:cubicBezTo>
                  <a:lnTo>
                    <a:pt x="7225284" y="201930"/>
                  </a:lnTo>
                  <a:cubicBezTo>
                    <a:pt x="7225284" y="111633"/>
                    <a:pt x="7151243" y="38100"/>
                    <a:pt x="7059422" y="38100"/>
                  </a:cubicBezTo>
                  <a:lnTo>
                    <a:pt x="203962" y="38100"/>
                  </a:lnTo>
                  <a:lnTo>
                    <a:pt x="203962" y="19050"/>
                  </a:lnTo>
                  <a:lnTo>
                    <a:pt x="203962" y="38100"/>
                  </a:lnTo>
                  <a:cubicBezTo>
                    <a:pt x="112141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B2D4E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2050468" y="8300885"/>
            <a:ext cx="114300" cy="1736227"/>
            <a:chOff x="0" y="0"/>
            <a:chExt cx="152400" cy="231496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52400" cy="2314956"/>
            </a:xfrm>
            <a:custGeom>
              <a:avLst/>
              <a:gdLst/>
              <a:ahLst/>
              <a:cxnLst/>
              <a:rect r="r" b="b" t="t" l="l"/>
              <a:pathLst>
                <a:path h="2314956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2238756"/>
                  </a:lnTo>
                  <a:cubicBezTo>
                    <a:pt x="152400" y="2280793"/>
                    <a:pt x="118237" y="2314956"/>
                    <a:pt x="76200" y="2314956"/>
                  </a:cubicBezTo>
                  <a:cubicBezTo>
                    <a:pt x="34163" y="2314956"/>
                    <a:pt x="0" y="2280793"/>
                    <a:pt x="0" y="2238756"/>
                  </a:cubicBezTo>
                  <a:close/>
                </a:path>
              </a:pathLst>
            </a:custGeom>
            <a:solidFill>
              <a:srgbClr val="007EB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12418962" y="8536038"/>
            <a:ext cx="2962275" cy="389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Prevention-Focused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418962" y="8984304"/>
            <a:ext cx="4824860" cy="79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Early identification to address stress before it escalates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992238" y="1734141"/>
            <a:ext cx="12306595" cy="977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2"/>
              </a:lnSpc>
            </a:pPr>
            <a:r>
              <a:rPr lang="en-US" sz="5812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Reduce Stress with Supportive Tools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2238" y="3051572"/>
            <a:ext cx="16303523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Stress Sense offers a curated set of anti-stress and self-help tools designed to promote calmness without pressure, competition, or judgment. These activities help students reset mentally and build emotional resilience.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992238" y="4363488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333" t="0" r="-3334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55314" y="4503239"/>
            <a:ext cx="3721303" cy="493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Mental Relaxation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55314" y="5081292"/>
            <a:ext cx="4135193" cy="190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Logic puzzles and word games designed to redirect focus and provide gentle mental engagement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6544866" y="4363488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6666" t="0" r="-6667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607941" y="4503239"/>
            <a:ext cx="3721303" cy="493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Daily Affirmations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07941" y="5081292"/>
            <a:ext cx="4135193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Mindfulness tips and positive affirmations to cultivate self-compassion and perspective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12097493" y="4363488"/>
            <a:ext cx="708717" cy="708717"/>
          </a:xfrm>
          <a:custGeom>
            <a:avLst/>
            <a:gdLst/>
            <a:ahLst/>
            <a:cxnLst/>
            <a:rect r="r" b="b" t="t" l="l"/>
            <a:pathLst>
              <a:path h="708717" w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2666" r="0" b="-12666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160578" y="4503239"/>
            <a:ext cx="3721303" cy="493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Calming Exercises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160578" y="5081292"/>
            <a:ext cx="4135193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Simple breathing techniques and relaxation exercises for immediate stress relief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92238" y="7300465"/>
            <a:ext cx="16303523" cy="1204760"/>
            <a:chOff x="0" y="0"/>
            <a:chExt cx="21738031" cy="160634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737955" cy="1606296"/>
            </a:xfrm>
            <a:custGeom>
              <a:avLst/>
              <a:gdLst/>
              <a:ahLst/>
              <a:cxnLst/>
              <a:rect r="r" b="b" t="t" l="l"/>
              <a:pathLst>
                <a:path h="1606296" w="21737955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21579205" y="0"/>
                  </a:lnTo>
                  <a:cubicBezTo>
                    <a:pt x="21666836" y="0"/>
                    <a:pt x="21737955" y="71120"/>
                    <a:pt x="21737955" y="158750"/>
                  </a:cubicBezTo>
                  <a:lnTo>
                    <a:pt x="21737955" y="1447546"/>
                  </a:lnTo>
                  <a:cubicBezTo>
                    <a:pt x="21737955" y="1535176"/>
                    <a:pt x="21666836" y="1606296"/>
                    <a:pt x="21579205" y="1606296"/>
                  </a:cubicBezTo>
                  <a:lnTo>
                    <a:pt x="158750" y="1606296"/>
                  </a:lnTo>
                  <a:cubicBezTo>
                    <a:pt x="71120" y="1606296"/>
                    <a:pt x="0" y="1535176"/>
                    <a:pt x="0" y="1447546"/>
                  </a:cubicBezTo>
                  <a:close/>
                </a:path>
              </a:pathLst>
            </a:custGeom>
            <a:solidFill>
              <a:srgbClr val="B3E5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8" id="18" descr="preencoded.png"/>
          <p:cNvSpPr/>
          <p:nvPr/>
        </p:nvSpPr>
        <p:spPr>
          <a:xfrm flipH="false" flipV="false" rot="0">
            <a:off x="1275759" y="7730576"/>
            <a:ext cx="354359" cy="283521"/>
          </a:xfrm>
          <a:custGeom>
            <a:avLst/>
            <a:gdLst/>
            <a:ahLst/>
            <a:cxnLst/>
            <a:rect r="r" b="b" t="t" l="l"/>
            <a:pathLst>
              <a:path h="283521" w="354359">
                <a:moveTo>
                  <a:pt x="0" y="0"/>
                </a:moveTo>
                <a:lnTo>
                  <a:pt x="354359" y="0"/>
                </a:lnTo>
                <a:lnTo>
                  <a:pt x="354359" y="283521"/>
                </a:lnTo>
                <a:lnTo>
                  <a:pt x="0" y="28352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671" r="0" b="-668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913630" y="7569098"/>
            <a:ext cx="15098611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No pressure, no competition—only well-being.</a:t>
            </a:r>
            <a:r>
              <a:rPr lang="en-US" sz="218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Every tool is designed to support, not to measure or compare.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616001" y="464934"/>
            <a:ext cx="5862342" cy="596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3625" b="true">
                <a:solidFill>
                  <a:srgbClr val="000000"/>
                </a:solidFill>
                <a:latin typeface="Petrona Bold"/>
                <a:ea typeface="Petrona Bold"/>
                <a:cs typeface="Petrona Bold"/>
                <a:sym typeface="Petrona Bold"/>
              </a:rPr>
              <a:t>Privacy, Ethics &amp; User Trust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16001" y="1365942"/>
            <a:ext cx="17055998" cy="329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Stress Sense is built with strong ethical principles and data protection standards at its foundation. Student safety, confidentiality, and autonomy guide every design decision.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11238" y="1888331"/>
            <a:ext cx="5577478" cy="2041769"/>
            <a:chOff x="0" y="0"/>
            <a:chExt cx="7436637" cy="272235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350" y="6350"/>
              <a:ext cx="7424039" cy="2709672"/>
            </a:xfrm>
            <a:custGeom>
              <a:avLst/>
              <a:gdLst/>
              <a:ahLst/>
              <a:cxnLst/>
              <a:rect r="r" b="b" t="t" l="l"/>
              <a:pathLst>
                <a:path h="2709672" w="7424039">
                  <a:moveTo>
                    <a:pt x="0" y="98552"/>
                  </a:moveTo>
                  <a:cubicBezTo>
                    <a:pt x="0" y="44196"/>
                    <a:pt x="44323" y="0"/>
                    <a:pt x="98933" y="0"/>
                  </a:cubicBezTo>
                  <a:lnTo>
                    <a:pt x="7325106" y="0"/>
                  </a:lnTo>
                  <a:cubicBezTo>
                    <a:pt x="7379716" y="0"/>
                    <a:pt x="7424039" y="44196"/>
                    <a:pt x="7424039" y="98552"/>
                  </a:cubicBezTo>
                  <a:lnTo>
                    <a:pt x="7424039" y="2611120"/>
                  </a:lnTo>
                  <a:cubicBezTo>
                    <a:pt x="7424039" y="2665603"/>
                    <a:pt x="7379716" y="2709672"/>
                    <a:pt x="7325106" y="2709672"/>
                  </a:cubicBezTo>
                  <a:lnTo>
                    <a:pt x="98933" y="2709672"/>
                  </a:lnTo>
                  <a:cubicBezTo>
                    <a:pt x="44323" y="2709672"/>
                    <a:pt x="0" y="2665476"/>
                    <a:pt x="0" y="2611120"/>
                  </a:cubicBezTo>
                  <a:close/>
                </a:path>
              </a:pathLst>
            </a:custGeom>
            <a:solidFill>
              <a:srgbClr val="CCEE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436739" cy="2722372"/>
            </a:xfrm>
            <a:custGeom>
              <a:avLst/>
              <a:gdLst/>
              <a:ahLst/>
              <a:cxnLst/>
              <a:rect r="r" b="b" t="t" l="l"/>
              <a:pathLst>
                <a:path h="2722372" w="7436739">
                  <a:moveTo>
                    <a:pt x="0" y="104902"/>
                  </a:moveTo>
                  <a:cubicBezTo>
                    <a:pt x="0" y="46990"/>
                    <a:pt x="47117" y="0"/>
                    <a:pt x="105283" y="0"/>
                  </a:cubicBezTo>
                  <a:lnTo>
                    <a:pt x="7331456" y="0"/>
                  </a:lnTo>
                  <a:lnTo>
                    <a:pt x="7331456" y="6350"/>
                  </a:lnTo>
                  <a:lnTo>
                    <a:pt x="7331456" y="0"/>
                  </a:lnTo>
                  <a:cubicBezTo>
                    <a:pt x="7389495" y="0"/>
                    <a:pt x="7436739" y="46990"/>
                    <a:pt x="7436739" y="104902"/>
                  </a:cubicBezTo>
                  <a:lnTo>
                    <a:pt x="7430389" y="104902"/>
                  </a:lnTo>
                  <a:lnTo>
                    <a:pt x="7436739" y="104902"/>
                  </a:lnTo>
                  <a:lnTo>
                    <a:pt x="7436739" y="2617470"/>
                  </a:lnTo>
                  <a:lnTo>
                    <a:pt x="7430389" y="2617470"/>
                  </a:lnTo>
                  <a:lnTo>
                    <a:pt x="7436739" y="2617470"/>
                  </a:lnTo>
                  <a:cubicBezTo>
                    <a:pt x="7436739" y="2675382"/>
                    <a:pt x="7389623" y="2722372"/>
                    <a:pt x="7331456" y="2722372"/>
                  </a:cubicBezTo>
                  <a:lnTo>
                    <a:pt x="7331456" y="2716022"/>
                  </a:lnTo>
                  <a:lnTo>
                    <a:pt x="7331456" y="2722372"/>
                  </a:lnTo>
                  <a:lnTo>
                    <a:pt x="105283" y="2722372"/>
                  </a:lnTo>
                  <a:lnTo>
                    <a:pt x="105283" y="2716022"/>
                  </a:lnTo>
                  <a:lnTo>
                    <a:pt x="105283" y="2722372"/>
                  </a:lnTo>
                  <a:cubicBezTo>
                    <a:pt x="47244" y="2722372"/>
                    <a:pt x="0" y="2675382"/>
                    <a:pt x="0" y="2617470"/>
                  </a:cubicBezTo>
                  <a:lnTo>
                    <a:pt x="0" y="104902"/>
                  </a:lnTo>
                  <a:lnTo>
                    <a:pt x="6350" y="104902"/>
                  </a:lnTo>
                  <a:lnTo>
                    <a:pt x="0" y="104902"/>
                  </a:lnTo>
                  <a:moveTo>
                    <a:pt x="12700" y="104902"/>
                  </a:moveTo>
                  <a:lnTo>
                    <a:pt x="12700" y="2617470"/>
                  </a:lnTo>
                  <a:lnTo>
                    <a:pt x="6350" y="2617470"/>
                  </a:lnTo>
                  <a:lnTo>
                    <a:pt x="12700" y="2617470"/>
                  </a:lnTo>
                  <a:cubicBezTo>
                    <a:pt x="12700" y="2668397"/>
                    <a:pt x="54102" y="2709672"/>
                    <a:pt x="105283" y="2709672"/>
                  </a:cubicBezTo>
                  <a:lnTo>
                    <a:pt x="7331456" y="2709672"/>
                  </a:lnTo>
                  <a:cubicBezTo>
                    <a:pt x="7382511" y="2709672"/>
                    <a:pt x="7424039" y="2668397"/>
                    <a:pt x="7424039" y="2617470"/>
                  </a:cubicBezTo>
                  <a:lnTo>
                    <a:pt x="7424039" y="104902"/>
                  </a:lnTo>
                  <a:cubicBezTo>
                    <a:pt x="7424039" y="53975"/>
                    <a:pt x="7382638" y="12700"/>
                    <a:pt x="7331456" y="12700"/>
                  </a:cubicBezTo>
                  <a:lnTo>
                    <a:pt x="105283" y="12700"/>
                  </a:lnTo>
                  <a:lnTo>
                    <a:pt x="105283" y="6350"/>
                  </a:lnTo>
                  <a:lnTo>
                    <a:pt x="105283" y="12700"/>
                  </a:lnTo>
                  <a:cubicBezTo>
                    <a:pt x="54102" y="12700"/>
                    <a:pt x="12700" y="53975"/>
                    <a:pt x="12700" y="104902"/>
                  </a:cubicBezTo>
                  <a:close/>
                </a:path>
              </a:pathLst>
            </a:custGeom>
            <a:solidFill>
              <a:srgbClr val="B2D4E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801443" y="2078536"/>
            <a:ext cx="528047" cy="528047"/>
            <a:chOff x="0" y="0"/>
            <a:chExt cx="704063" cy="70406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04088" cy="704088"/>
            </a:xfrm>
            <a:custGeom>
              <a:avLst/>
              <a:gdLst/>
              <a:ahLst/>
              <a:cxnLst/>
              <a:rect r="r" b="b" t="t" l="l"/>
              <a:pathLst>
                <a:path h="704088" w="704088">
                  <a:moveTo>
                    <a:pt x="0" y="352044"/>
                  </a:moveTo>
                  <a:cubicBezTo>
                    <a:pt x="0" y="157607"/>
                    <a:pt x="157607" y="0"/>
                    <a:pt x="352044" y="0"/>
                  </a:cubicBezTo>
                  <a:cubicBezTo>
                    <a:pt x="546481" y="0"/>
                    <a:pt x="704088" y="157607"/>
                    <a:pt x="704088" y="352044"/>
                  </a:cubicBezTo>
                  <a:cubicBezTo>
                    <a:pt x="704088" y="546481"/>
                    <a:pt x="546481" y="704088"/>
                    <a:pt x="352044" y="704088"/>
                  </a:cubicBezTo>
                  <a:cubicBezTo>
                    <a:pt x="157607" y="704088"/>
                    <a:pt x="0" y="546481"/>
                    <a:pt x="0" y="352044"/>
                  </a:cubicBezTo>
                  <a:close/>
                </a:path>
              </a:pathLst>
            </a:custGeom>
            <a:solidFill>
              <a:srgbClr val="007EB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2" id="12" descr="preencoded.png"/>
          <p:cNvSpPr/>
          <p:nvPr/>
        </p:nvSpPr>
        <p:spPr>
          <a:xfrm flipH="false" flipV="false" rot="0">
            <a:off x="946699" y="2223792"/>
            <a:ext cx="237534" cy="237534"/>
          </a:xfrm>
          <a:custGeom>
            <a:avLst/>
            <a:gdLst/>
            <a:ahLst/>
            <a:cxnLst/>
            <a:rect r="r" b="b" t="t" l="l"/>
            <a:pathLst>
              <a:path h="237534" w="237534">
                <a:moveTo>
                  <a:pt x="0" y="0"/>
                </a:moveTo>
                <a:lnTo>
                  <a:pt x="237535" y="0"/>
                </a:lnTo>
                <a:lnTo>
                  <a:pt x="237535" y="237535"/>
                </a:lnTo>
                <a:lnTo>
                  <a:pt x="0" y="2375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0000" r="0" b="-9996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01443" y="2763441"/>
            <a:ext cx="2310403" cy="307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12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User Consent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01443" y="3129115"/>
            <a:ext cx="5197078" cy="329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Transparent data collection with clear consent and control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355109" y="1888331"/>
            <a:ext cx="5577630" cy="2041769"/>
            <a:chOff x="0" y="0"/>
            <a:chExt cx="7436841" cy="272235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6350" y="6350"/>
              <a:ext cx="7424165" cy="2709672"/>
            </a:xfrm>
            <a:custGeom>
              <a:avLst/>
              <a:gdLst/>
              <a:ahLst/>
              <a:cxnLst/>
              <a:rect r="r" b="b" t="t" l="l"/>
              <a:pathLst>
                <a:path h="2709672" w="7424165">
                  <a:moveTo>
                    <a:pt x="0" y="98552"/>
                  </a:moveTo>
                  <a:cubicBezTo>
                    <a:pt x="0" y="44196"/>
                    <a:pt x="44323" y="0"/>
                    <a:pt x="98933" y="0"/>
                  </a:cubicBezTo>
                  <a:lnTo>
                    <a:pt x="7325233" y="0"/>
                  </a:lnTo>
                  <a:cubicBezTo>
                    <a:pt x="7379843" y="0"/>
                    <a:pt x="7424165" y="44196"/>
                    <a:pt x="7424165" y="98552"/>
                  </a:cubicBezTo>
                  <a:lnTo>
                    <a:pt x="7424165" y="2611120"/>
                  </a:lnTo>
                  <a:cubicBezTo>
                    <a:pt x="7424165" y="2665603"/>
                    <a:pt x="7379843" y="2709672"/>
                    <a:pt x="7325233" y="2709672"/>
                  </a:cubicBezTo>
                  <a:lnTo>
                    <a:pt x="98933" y="2709672"/>
                  </a:lnTo>
                  <a:cubicBezTo>
                    <a:pt x="44323" y="2709672"/>
                    <a:pt x="0" y="2665476"/>
                    <a:pt x="0" y="2611120"/>
                  </a:cubicBezTo>
                  <a:close/>
                </a:path>
              </a:pathLst>
            </a:custGeom>
            <a:solidFill>
              <a:srgbClr val="CCEE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436865" cy="2722372"/>
            </a:xfrm>
            <a:custGeom>
              <a:avLst/>
              <a:gdLst/>
              <a:ahLst/>
              <a:cxnLst/>
              <a:rect r="r" b="b" t="t" l="l"/>
              <a:pathLst>
                <a:path h="2722372" w="7436865">
                  <a:moveTo>
                    <a:pt x="0" y="104902"/>
                  </a:moveTo>
                  <a:cubicBezTo>
                    <a:pt x="0" y="46990"/>
                    <a:pt x="47117" y="0"/>
                    <a:pt x="105283" y="0"/>
                  </a:cubicBezTo>
                  <a:lnTo>
                    <a:pt x="7331583" y="0"/>
                  </a:lnTo>
                  <a:lnTo>
                    <a:pt x="7331583" y="6350"/>
                  </a:lnTo>
                  <a:lnTo>
                    <a:pt x="7331583" y="0"/>
                  </a:lnTo>
                  <a:cubicBezTo>
                    <a:pt x="7389622" y="0"/>
                    <a:pt x="7436865" y="46990"/>
                    <a:pt x="7436865" y="104902"/>
                  </a:cubicBezTo>
                  <a:lnTo>
                    <a:pt x="7430515" y="104902"/>
                  </a:lnTo>
                  <a:lnTo>
                    <a:pt x="7436865" y="104902"/>
                  </a:lnTo>
                  <a:lnTo>
                    <a:pt x="7436865" y="2617470"/>
                  </a:lnTo>
                  <a:lnTo>
                    <a:pt x="7430515" y="2617470"/>
                  </a:lnTo>
                  <a:lnTo>
                    <a:pt x="7436865" y="2617470"/>
                  </a:lnTo>
                  <a:cubicBezTo>
                    <a:pt x="7436865" y="2675382"/>
                    <a:pt x="7389749" y="2722372"/>
                    <a:pt x="7331583" y="2722372"/>
                  </a:cubicBezTo>
                  <a:lnTo>
                    <a:pt x="7331583" y="2716022"/>
                  </a:lnTo>
                  <a:lnTo>
                    <a:pt x="7331583" y="2722372"/>
                  </a:lnTo>
                  <a:lnTo>
                    <a:pt x="105283" y="2722372"/>
                  </a:lnTo>
                  <a:lnTo>
                    <a:pt x="105283" y="2716022"/>
                  </a:lnTo>
                  <a:lnTo>
                    <a:pt x="105283" y="2722372"/>
                  </a:lnTo>
                  <a:cubicBezTo>
                    <a:pt x="47244" y="2722372"/>
                    <a:pt x="0" y="2675382"/>
                    <a:pt x="0" y="2617470"/>
                  </a:cubicBezTo>
                  <a:lnTo>
                    <a:pt x="0" y="104902"/>
                  </a:lnTo>
                  <a:lnTo>
                    <a:pt x="6350" y="104902"/>
                  </a:lnTo>
                  <a:lnTo>
                    <a:pt x="0" y="104902"/>
                  </a:lnTo>
                  <a:moveTo>
                    <a:pt x="12700" y="104902"/>
                  </a:moveTo>
                  <a:lnTo>
                    <a:pt x="12700" y="2617470"/>
                  </a:lnTo>
                  <a:lnTo>
                    <a:pt x="6350" y="2617470"/>
                  </a:lnTo>
                  <a:lnTo>
                    <a:pt x="12700" y="2617470"/>
                  </a:lnTo>
                  <a:cubicBezTo>
                    <a:pt x="12700" y="2668397"/>
                    <a:pt x="54102" y="2709672"/>
                    <a:pt x="105283" y="2709672"/>
                  </a:cubicBezTo>
                  <a:lnTo>
                    <a:pt x="7331583" y="2709672"/>
                  </a:lnTo>
                  <a:cubicBezTo>
                    <a:pt x="7382637" y="2709672"/>
                    <a:pt x="7424165" y="2668397"/>
                    <a:pt x="7424165" y="2617470"/>
                  </a:cubicBezTo>
                  <a:lnTo>
                    <a:pt x="7424165" y="104902"/>
                  </a:lnTo>
                  <a:cubicBezTo>
                    <a:pt x="7424165" y="53975"/>
                    <a:pt x="7382764" y="12700"/>
                    <a:pt x="7331583" y="12700"/>
                  </a:cubicBezTo>
                  <a:lnTo>
                    <a:pt x="105283" y="12700"/>
                  </a:lnTo>
                  <a:lnTo>
                    <a:pt x="105283" y="6350"/>
                  </a:lnTo>
                  <a:lnTo>
                    <a:pt x="105283" y="12700"/>
                  </a:lnTo>
                  <a:cubicBezTo>
                    <a:pt x="54102" y="12700"/>
                    <a:pt x="12700" y="53975"/>
                    <a:pt x="12700" y="104902"/>
                  </a:cubicBezTo>
                  <a:close/>
                </a:path>
              </a:pathLst>
            </a:custGeom>
            <a:solidFill>
              <a:srgbClr val="B2D4E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6545313" y="2078536"/>
            <a:ext cx="528047" cy="528047"/>
            <a:chOff x="0" y="0"/>
            <a:chExt cx="704063" cy="70406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4088" cy="704088"/>
            </a:xfrm>
            <a:custGeom>
              <a:avLst/>
              <a:gdLst/>
              <a:ahLst/>
              <a:cxnLst/>
              <a:rect r="r" b="b" t="t" l="l"/>
              <a:pathLst>
                <a:path h="704088" w="704088">
                  <a:moveTo>
                    <a:pt x="0" y="352044"/>
                  </a:moveTo>
                  <a:cubicBezTo>
                    <a:pt x="0" y="157607"/>
                    <a:pt x="157607" y="0"/>
                    <a:pt x="352044" y="0"/>
                  </a:cubicBezTo>
                  <a:cubicBezTo>
                    <a:pt x="546481" y="0"/>
                    <a:pt x="704088" y="157607"/>
                    <a:pt x="704088" y="352044"/>
                  </a:cubicBezTo>
                  <a:cubicBezTo>
                    <a:pt x="704088" y="546481"/>
                    <a:pt x="546481" y="704088"/>
                    <a:pt x="352044" y="704088"/>
                  </a:cubicBezTo>
                  <a:cubicBezTo>
                    <a:pt x="157607" y="704088"/>
                    <a:pt x="0" y="546481"/>
                    <a:pt x="0" y="352044"/>
                  </a:cubicBezTo>
                  <a:close/>
                </a:path>
              </a:pathLst>
            </a:custGeom>
            <a:solidFill>
              <a:srgbClr val="007EB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0" id="20" descr="preencoded.png"/>
          <p:cNvSpPr/>
          <p:nvPr/>
        </p:nvSpPr>
        <p:spPr>
          <a:xfrm flipH="false" flipV="false" rot="0">
            <a:off x="6690570" y="2223792"/>
            <a:ext cx="237534" cy="237534"/>
          </a:xfrm>
          <a:custGeom>
            <a:avLst/>
            <a:gdLst/>
            <a:ahLst/>
            <a:cxnLst/>
            <a:rect r="r" b="b" t="t" l="l"/>
            <a:pathLst>
              <a:path h="237534" w="237534">
                <a:moveTo>
                  <a:pt x="0" y="0"/>
                </a:moveTo>
                <a:lnTo>
                  <a:pt x="237534" y="0"/>
                </a:lnTo>
                <a:lnTo>
                  <a:pt x="237534" y="237535"/>
                </a:lnTo>
                <a:lnTo>
                  <a:pt x="0" y="2375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3998" r="0" b="-13998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6545313" y="2763441"/>
            <a:ext cx="2310403" cy="307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12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Secure Storage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545313" y="3129115"/>
            <a:ext cx="5197231" cy="610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Confidential, encrypted data handling with ethical usage policies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099131" y="1888331"/>
            <a:ext cx="5577478" cy="2041769"/>
            <a:chOff x="0" y="0"/>
            <a:chExt cx="7436637" cy="272235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6350" y="6350"/>
              <a:ext cx="7424039" cy="2709672"/>
            </a:xfrm>
            <a:custGeom>
              <a:avLst/>
              <a:gdLst/>
              <a:ahLst/>
              <a:cxnLst/>
              <a:rect r="r" b="b" t="t" l="l"/>
              <a:pathLst>
                <a:path h="2709672" w="7424039">
                  <a:moveTo>
                    <a:pt x="0" y="98552"/>
                  </a:moveTo>
                  <a:cubicBezTo>
                    <a:pt x="0" y="44196"/>
                    <a:pt x="44323" y="0"/>
                    <a:pt x="98933" y="0"/>
                  </a:cubicBezTo>
                  <a:lnTo>
                    <a:pt x="7325106" y="0"/>
                  </a:lnTo>
                  <a:cubicBezTo>
                    <a:pt x="7379716" y="0"/>
                    <a:pt x="7424039" y="44196"/>
                    <a:pt x="7424039" y="98552"/>
                  </a:cubicBezTo>
                  <a:lnTo>
                    <a:pt x="7424039" y="2611120"/>
                  </a:lnTo>
                  <a:cubicBezTo>
                    <a:pt x="7424039" y="2665603"/>
                    <a:pt x="7379716" y="2709672"/>
                    <a:pt x="7325106" y="2709672"/>
                  </a:cubicBezTo>
                  <a:lnTo>
                    <a:pt x="98933" y="2709672"/>
                  </a:lnTo>
                  <a:cubicBezTo>
                    <a:pt x="44323" y="2709672"/>
                    <a:pt x="0" y="2665476"/>
                    <a:pt x="0" y="2611120"/>
                  </a:cubicBezTo>
                  <a:close/>
                </a:path>
              </a:pathLst>
            </a:custGeom>
            <a:solidFill>
              <a:srgbClr val="CCEE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436739" cy="2722372"/>
            </a:xfrm>
            <a:custGeom>
              <a:avLst/>
              <a:gdLst/>
              <a:ahLst/>
              <a:cxnLst/>
              <a:rect r="r" b="b" t="t" l="l"/>
              <a:pathLst>
                <a:path h="2722372" w="7436739">
                  <a:moveTo>
                    <a:pt x="0" y="104902"/>
                  </a:moveTo>
                  <a:cubicBezTo>
                    <a:pt x="0" y="46990"/>
                    <a:pt x="47117" y="0"/>
                    <a:pt x="105283" y="0"/>
                  </a:cubicBezTo>
                  <a:lnTo>
                    <a:pt x="7331456" y="0"/>
                  </a:lnTo>
                  <a:lnTo>
                    <a:pt x="7331456" y="6350"/>
                  </a:lnTo>
                  <a:lnTo>
                    <a:pt x="7331456" y="0"/>
                  </a:lnTo>
                  <a:cubicBezTo>
                    <a:pt x="7389495" y="0"/>
                    <a:pt x="7436739" y="46990"/>
                    <a:pt x="7436739" y="104902"/>
                  </a:cubicBezTo>
                  <a:lnTo>
                    <a:pt x="7430389" y="104902"/>
                  </a:lnTo>
                  <a:lnTo>
                    <a:pt x="7436739" y="104902"/>
                  </a:lnTo>
                  <a:lnTo>
                    <a:pt x="7436739" y="2617470"/>
                  </a:lnTo>
                  <a:lnTo>
                    <a:pt x="7430389" y="2617470"/>
                  </a:lnTo>
                  <a:lnTo>
                    <a:pt x="7436739" y="2617470"/>
                  </a:lnTo>
                  <a:cubicBezTo>
                    <a:pt x="7436739" y="2675382"/>
                    <a:pt x="7389623" y="2722372"/>
                    <a:pt x="7331456" y="2722372"/>
                  </a:cubicBezTo>
                  <a:lnTo>
                    <a:pt x="7331456" y="2716022"/>
                  </a:lnTo>
                  <a:lnTo>
                    <a:pt x="7331456" y="2722372"/>
                  </a:lnTo>
                  <a:lnTo>
                    <a:pt x="105283" y="2722372"/>
                  </a:lnTo>
                  <a:lnTo>
                    <a:pt x="105283" y="2716022"/>
                  </a:lnTo>
                  <a:lnTo>
                    <a:pt x="105283" y="2722372"/>
                  </a:lnTo>
                  <a:cubicBezTo>
                    <a:pt x="47244" y="2722372"/>
                    <a:pt x="0" y="2675382"/>
                    <a:pt x="0" y="2617470"/>
                  </a:cubicBezTo>
                  <a:lnTo>
                    <a:pt x="0" y="104902"/>
                  </a:lnTo>
                  <a:lnTo>
                    <a:pt x="6350" y="104902"/>
                  </a:lnTo>
                  <a:lnTo>
                    <a:pt x="0" y="104902"/>
                  </a:lnTo>
                  <a:moveTo>
                    <a:pt x="12700" y="104902"/>
                  </a:moveTo>
                  <a:lnTo>
                    <a:pt x="12700" y="2617470"/>
                  </a:lnTo>
                  <a:lnTo>
                    <a:pt x="6350" y="2617470"/>
                  </a:lnTo>
                  <a:lnTo>
                    <a:pt x="12700" y="2617470"/>
                  </a:lnTo>
                  <a:cubicBezTo>
                    <a:pt x="12700" y="2668397"/>
                    <a:pt x="54102" y="2709672"/>
                    <a:pt x="105283" y="2709672"/>
                  </a:cubicBezTo>
                  <a:lnTo>
                    <a:pt x="7331456" y="2709672"/>
                  </a:lnTo>
                  <a:cubicBezTo>
                    <a:pt x="7382511" y="2709672"/>
                    <a:pt x="7424039" y="2668397"/>
                    <a:pt x="7424039" y="2617470"/>
                  </a:cubicBezTo>
                  <a:lnTo>
                    <a:pt x="7424039" y="104902"/>
                  </a:lnTo>
                  <a:cubicBezTo>
                    <a:pt x="7424039" y="53975"/>
                    <a:pt x="7382638" y="12700"/>
                    <a:pt x="7331456" y="12700"/>
                  </a:cubicBezTo>
                  <a:lnTo>
                    <a:pt x="105283" y="12700"/>
                  </a:lnTo>
                  <a:lnTo>
                    <a:pt x="105283" y="6350"/>
                  </a:lnTo>
                  <a:lnTo>
                    <a:pt x="105283" y="12700"/>
                  </a:lnTo>
                  <a:cubicBezTo>
                    <a:pt x="54102" y="12700"/>
                    <a:pt x="12700" y="53975"/>
                    <a:pt x="12700" y="104902"/>
                  </a:cubicBezTo>
                  <a:close/>
                </a:path>
              </a:pathLst>
            </a:custGeom>
            <a:solidFill>
              <a:srgbClr val="B2D4E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2289336" y="2078536"/>
            <a:ext cx="528047" cy="528047"/>
            <a:chOff x="0" y="0"/>
            <a:chExt cx="704063" cy="70406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04088" cy="704088"/>
            </a:xfrm>
            <a:custGeom>
              <a:avLst/>
              <a:gdLst/>
              <a:ahLst/>
              <a:cxnLst/>
              <a:rect r="r" b="b" t="t" l="l"/>
              <a:pathLst>
                <a:path h="704088" w="704088">
                  <a:moveTo>
                    <a:pt x="0" y="352044"/>
                  </a:moveTo>
                  <a:cubicBezTo>
                    <a:pt x="0" y="157607"/>
                    <a:pt x="157607" y="0"/>
                    <a:pt x="352044" y="0"/>
                  </a:cubicBezTo>
                  <a:cubicBezTo>
                    <a:pt x="546481" y="0"/>
                    <a:pt x="704088" y="157607"/>
                    <a:pt x="704088" y="352044"/>
                  </a:cubicBezTo>
                  <a:cubicBezTo>
                    <a:pt x="704088" y="546481"/>
                    <a:pt x="546481" y="704088"/>
                    <a:pt x="352044" y="704088"/>
                  </a:cubicBezTo>
                  <a:cubicBezTo>
                    <a:pt x="157607" y="704088"/>
                    <a:pt x="0" y="546481"/>
                    <a:pt x="0" y="352044"/>
                  </a:cubicBezTo>
                  <a:close/>
                </a:path>
              </a:pathLst>
            </a:custGeom>
            <a:solidFill>
              <a:srgbClr val="007EB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8" id="28" descr="preencoded.png"/>
          <p:cNvSpPr/>
          <p:nvPr/>
        </p:nvSpPr>
        <p:spPr>
          <a:xfrm flipH="false" flipV="false" rot="0">
            <a:off x="12434592" y="2223792"/>
            <a:ext cx="237534" cy="237534"/>
          </a:xfrm>
          <a:custGeom>
            <a:avLst/>
            <a:gdLst/>
            <a:ahLst/>
            <a:cxnLst/>
            <a:rect r="r" b="b" t="t" l="l"/>
            <a:pathLst>
              <a:path h="237534" w="237534">
                <a:moveTo>
                  <a:pt x="0" y="0"/>
                </a:moveTo>
                <a:lnTo>
                  <a:pt x="237535" y="0"/>
                </a:lnTo>
                <a:lnTo>
                  <a:pt x="237535" y="237535"/>
                </a:lnTo>
                <a:lnTo>
                  <a:pt x="0" y="2375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2000" r="0" b="-1996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2289336" y="2763441"/>
            <a:ext cx="2310403" cy="307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12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Transparency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289336" y="3129115"/>
            <a:ext cx="5197078" cy="610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Authentic insights with clear explanations and user empowerment</a:t>
            </a:r>
          </a:p>
        </p:txBody>
      </p:sp>
      <p:sp>
        <p:nvSpPr>
          <p:cNvPr name="Freeform 31" id="31" descr="preencoded.png"/>
          <p:cNvSpPr/>
          <p:nvPr/>
        </p:nvSpPr>
        <p:spPr>
          <a:xfrm flipH="false" flipV="false" rot="0">
            <a:off x="616001" y="4321226"/>
            <a:ext cx="6564659" cy="6564659"/>
          </a:xfrm>
          <a:custGeom>
            <a:avLst/>
            <a:gdLst/>
            <a:ahLst/>
            <a:cxnLst/>
            <a:rect r="r" b="b" t="t" l="l"/>
            <a:pathLst>
              <a:path h="6564659" w="6564659">
                <a:moveTo>
                  <a:pt x="0" y="0"/>
                </a:moveTo>
                <a:lnTo>
                  <a:pt x="6564658" y="0"/>
                </a:lnTo>
                <a:lnTo>
                  <a:pt x="6564658" y="6564658"/>
                </a:lnTo>
                <a:lnTo>
                  <a:pt x="0" y="656465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7883728" y="4302176"/>
            <a:ext cx="8752580" cy="365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25" b="true">
                <a:solidFill>
                  <a:srgbClr val="007EBD"/>
                </a:solidFill>
                <a:latin typeface="Petrona Bold"/>
                <a:ea typeface="Petrona Bold"/>
                <a:cs typeface="Petrona Bold"/>
                <a:sym typeface="Petrona Bold"/>
              </a:rPr>
              <a:t>Stress Sense prioritizes student trust, safety, and well-being above all.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883728" y="4795990"/>
            <a:ext cx="9797653" cy="329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3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Your mental health journey is personal, private, and entirely in your control.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7619705" y="4321226"/>
            <a:ext cx="19050" cy="803967"/>
            <a:chOff x="0" y="0"/>
            <a:chExt cx="25400" cy="107195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5400" cy="1072007"/>
            </a:xfrm>
            <a:custGeom>
              <a:avLst/>
              <a:gdLst/>
              <a:ahLst/>
              <a:cxnLst/>
              <a:rect r="r" b="b" t="t" l="l"/>
              <a:pathLst>
                <a:path h="1072007" w="25400">
                  <a:moveTo>
                    <a:pt x="0" y="0"/>
                  </a:moveTo>
                  <a:lnTo>
                    <a:pt x="25400" y="0"/>
                  </a:lnTo>
                  <a:lnTo>
                    <a:pt x="25400" y="1072007"/>
                  </a:lnTo>
                  <a:lnTo>
                    <a:pt x="0" y="1072007"/>
                  </a:lnTo>
                  <a:close/>
                </a:path>
              </a:pathLst>
            </a:custGeom>
            <a:solidFill>
              <a:srgbClr val="007EBD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DAG733TRJBk</dc:identifier>
  <dcterms:modified xsi:type="dcterms:W3CDTF">2011-08-01T06:04:30Z</dcterms:modified>
  <cp:revision>1</cp:revision>
  <dc:title>Stress-Sense-Understand-Track-Reduce 1.pptx</dc:title>
</cp:coreProperties>
</file>